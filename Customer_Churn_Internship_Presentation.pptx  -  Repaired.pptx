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3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961120" y="-182880"/>
            <a:ext cx="3657600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1097280"/>
            <a:ext cx="2743200" cy="2743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38160" y="5029200"/>
            <a:ext cx="4114800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6141681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Customer Churn Prediction</a:t>
            </a:r>
          </a:p>
          <a:p>
            <a:pPr>
              <a:defRPr sz="2200">
                <a:solidFill>
                  <a:srgbClr val="BAE6FD"/>
                </a:solidFill>
                <a:latin typeface="Aptos"/>
              </a:defRPr>
            </a:pPr>
            <a:r>
              <a:rPr dirty="0"/>
              <a:t>Explainable Retention Intelligence System</a:t>
            </a:r>
          </a:p>
          <a:p>
            <a:pPr>
              <a:defRPr sz="1400">
                <a:solidFill>
                  <a:srgbClr val="CBD5E1"/>
                </a:solidFill>
                <a:latin typeface="Aptos"/>
              </a:defRPr>
            </a:pPr>
            <a:r>
              <a:rPr dirty="0"/>
              <a:t>Internship Project Presentation</a:t>
            </a:r>
            <a:endParaRPr lang="en-US" dirty="0"/>
          </a:p>
          <a:p>
            <a:pPr>
              <a:defRPr sz="1400">
                <a:solidFill>
                  <a:srgbClr val="CBD5E1"/>
                </a:solidFill>
                <a:latin typeface="Aptos"/>
              </a:defRPr>
            </a:pPr>
            <a:r>
              <a:rPr lang="en-IN" dirty="0"/>
              <a:t>Manjushree Gandham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49808" y="51663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Machine Learning • Model Comparison • Explainability • Business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Why predicting churn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Customer churn reduces recurring revenue and increases acquisition costs. The goal is to identify customers who are likely to leave early enough for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ML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39112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Build a binary classification system that estimates the probability of churn and ranks customers by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Business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Convert model predictions into actionable retention recommendations instead of stopping at a yes/no prediction.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142231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563EB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782312"/>
            <a:ext cx="25237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Aptos"/>
              </a:defRPr>
            </a:pPr>
            <a:r>
              <a:t>Target variable: Churn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3977639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4142231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6B6D4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4782312"/>
            <a:ext cx="25237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Aptos"/>
              </a:defRPr>
            </a:pPr>
            <a:r>
              <a:t>Core ML model families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977639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4142231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0B981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782312"/>
            <a:ext cx="25237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Aptos"/>
              </a:defRPr>
            </a:pPr>
            <a:r>
              <a:t>CV folds for tuning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2. Dataset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Telco customer-level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Dataset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The project uses the Telco Customer Churn dataset. Each row represents one customer and the target indicates whether the customer churned.</a:t>
            </a:r>
            <a:br/>
            <a:br/>
            <a:r>
              <a:t>Key variable groups:</a:t>
            </a:r>
            <a:br/>
            <a:r>
              <a:t>• Demographics</a:t>
            </a:r>
            <a:br/>
            <a:r>
              <a:t>• Account information</a:t>
            </a:r>
            <a:br/>
            <a:r>
              <a:t>• Services</a:t>
            </a:r>
            <a:br/>
            <a:r>
              <a:t>• Contract &amp; billing</a:t>
            </a:r>
            <a:br/>
            <a:r>
              <a:t>• Charges and tenure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64008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49047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Demographics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47672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Gender, senior-citizen status, partner and dependents.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6400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49047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947672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Internet, phone, security, backup, device protection and streaming 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747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3474720"/>
            <a:ext cx="64008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7" y="36393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096511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Tenure, contract type, paperless billing and payment method.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4747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1000" y="3474720"/>
            <a:ext cx="64008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2168" y="36393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Financial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096511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MonthlyCharges and TotalCharges provide direct signals of customer value and cost.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3. Data Preparation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Cleaning decisions that make the model reliable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Remove identifier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800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customerID is excluded because it identifies a customer but does not provide useful predictive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64008" cy="12984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4904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Numeric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47672"/>
            <a:ext cx="4800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TotalCharges is converted to numeric and invalid blanks are handled 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98648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98648"/>
            <a:ext cx="64008" cy="12984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63240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Target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20440"/>
            <a:ext cx="4800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Churn is converted from Yes/No to 1/0 for binary classification.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98648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898648"/>
            <a:ext cx="64008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7" y="3063240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Stratified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520440"/>
            <a:ext cx="4800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Train/test split preserves the churn ratio in both sets.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71416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471416"/>
            <a:ext cx="64008" cy="12984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636007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Categorical encoding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93207"/>
            <a:ext cx="4800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One-hot encoding converts categorical variables into model-ready features.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471416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471416"/>
            <a:ext cx="64008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7" y="4636007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Leakage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5093207"/>
            <a:ext cx="4800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Preprocessing stays inside the model pipeline so transformations are learned from training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4.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Understanding patterns before model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What was explored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310896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• Churn class distribution</a:t>
            </a:r>
            <a:br/>
            <a:r>
              <a:t>• Tenure distribution</a:t>
            </a:r>
            <a:br/>
            <a:r>
              <a:t>• Monthly and total charges</a:t>
            </a:r>
            <a:br/>
            <a:r>
              <a:t>• Categorical service patterns</a:t>
            </a:r>
            <a:br/>
            <a:r>
              <a:t>• Churn vs numerical variables</a:t>
            </a:r>
            <a:br/>
            <a:r>
              <a:t>• Correlations among numeric features</a:t>
            </a:r>
            <a:br/>
            <a:br/>
            <a:r>
              <a:t>EDA helps identify imbalance, potential drivers and data-quality issues before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No Churn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828800"/>
            <a:ext cx="484632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52160" y="1828800"/>
            <a:ext cx="348935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1783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Churn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063240"/>
            <a:ext cx="484632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52160" y="3063240"/>
            <a:ext cx="1356969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35640" y="3017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28%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977639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26280" y="3977639"/>
            <a:ext cx="6400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7448" y="4142231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Key EDA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599431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Churn is a minority class, so accuracy alone is not enough for evaluation.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977639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3977639"/>
            <a:ext cx="64008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7848" y="4142231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Modeling 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4599431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Recall, F1 and ROC-AUC are included to better assess churn detection.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5. Machine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Three model families were compared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Decision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Interpretable rule-based model.</a:t>
            </a:r>
            <a:br/>
            <a:br/>
            <a:r>
              <a:t>Strengths:</a:t>
            </a:r>
            <a:br/>
            <a:r>
              <a:t>• Easy to explain</a:t>
            </a:r>
            <a:br/>
            <a:r>
              <a:t>• Captures nonlinear relationships</a:t>
            </a:r>
            <a:br/>
            <a:br/>
            <a:r>
              <a:t>Role in project:</a:t>
            </a:r>
            <a:br/>
            <a:r>
              <a:t>Baseline model for comparison.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64008" cy="4251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Ensemble of decision trees.</a:t>
            </a:r>
            <a:br/>
            <a:br/>
            <a:r>
              <a:t>Strengths:</a:t>
            </a:r>
            <a:br/>
            <a:r>
              <a:t>• Robust to nonlinear patterns</a:t>
            </a:r>
            <a:br/>
            <a:r>
              <a:t>• Handles mixed feature effects</a:t>
            </a:r>
            <a:br/>
            <a:r>
              <a:t>• Class weighting supported</a:t>
            </a:r>
            <a:br/>
            <a:br/>
            <a:r>
              <a:t>Tuned using randomized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7160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71600"/>
            <a:ext cx="64008" cy="4251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9339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Gradient-boosted decision trees.</a:t>
            </a:r>
            <a:br/>
            <a:br/>
            <a:r>
              <a:t>Strengths:</a:t>
            </a:r>
            <a:br/>
            <a:r>
              <a:t>• Strong tabular-data performance</a:t>
            </a:r>
            <a:br/>
            <a:r>
              <a:t>• Flexible nonlinear modeling</a:t>
            </a:r>
            <a:br/>
            <a:r>
              <a:t>• Tunable complexity</a:t>
            </a:r>
            <a:br/>
            <a:br/>
            <a:r>
              <a:t>Tuned using randomized search.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6. Model Training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A leakage-conscious evaluation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783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057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Train/Test</a:t>
            </a:r>
            <a:br/>
            <a:r>
              <a:t>Split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23160" y="2148840"/>
            <a:ext cx="411480" cy="4114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07791" y="1828800"/>
            <a:ext cx="1783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2057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Preprocessing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90872" y="2148840"/>
            <a:ext cx="411480" cy="4114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75504" y="1828800"/>
            <a:ext cx="1783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66944" y="2057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5-Fold</a:t>
            </a:r>
            <a:br/>
            <a:r>
              <a:t>Stratified CV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58584" y="2148840"/>
            <a:ext cx="411480" cy="4114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43215" y="1828800"/>
            <a:ext cx="1783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34655" y="2057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Hyperparameter</a:t>
            </a:r>
            <a:br/>
            <a:r>
              <a:t>Search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26295" y="2148840"/>
            <a:ext cx="411480" cy="4114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10928" y="1828800"/>
            <a:ext cx="1783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02367" y="2057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Test</a:t>
            </a:r>
            <a:br/>
            <a:r>
              <a:t>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82219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Primary tuning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27939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ROC-AUC was used for hyperparameter search because churn is imbalanced.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657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657600"/>
            <a:ext cx="64008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7" y="382219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Why stratification?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27939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Each fold maintains a similar churn/non-churn distribution.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57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657600"/>
            <a:ext cx="64008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382219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Why multiple metrics?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27939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A model can have high accuracy while missing too many customers who actually churn.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7.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Metrics used to judge business usefulness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Overall proportion of correct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64008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9339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Of customers predicted to churn, how many actually churn?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371600"/>
            <a:ext cx="64008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9339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Of customers who churned, how many did the model identify?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37560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50215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F1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95935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Balances precision and recall.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375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33756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50215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ROC-AUC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95935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Measures ranking quality across classification thresholds.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49240"/>
            <a:ext cx="10927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5349240"/>
            <a:ext cx="64008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5513831"/>
            <a:ext cx="10561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Selection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971031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The final model should not be selected by accuracy alone; the ability to identify churners and rank risk is central to retention.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8. Results &amp;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Final numbers are generated when the notebook is executed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331720" cy="59436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79" y="1417320"/>
            <a:ext cx="1600200" cy="59436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799" y="152704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417320"/>
            <a:ext cx="1600200" cy="59436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2704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1600200" cy="59436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52704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417320"/>
            <a:ext cx="1600200" cy="59436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52704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417320"/>
            <a:ext cx="1737360" cy="59436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527048"/>
            <a:ext cx="16459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ROC-AUC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011680"/>
            <a:ext cx="23317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167128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Decision Tree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79" y="2011680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799" y="21671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73.46%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2011680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21671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50.00%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011680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21671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47.33%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2011680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1671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48.63%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2011680"/>
            <a:ext cx="17373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600" y="2167128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0.6514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670048"/>
            <a:ext cx="233172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825496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Tuned 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79" y="2670048"/>
            <a:ext cx="1600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71799" y="2825496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75.66%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2670048"/>
            <a:ext cx="1600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2825496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52.77%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670048"/>
            <a:ext cx="1600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2825496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78.88%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79" y="2670048"/>
            <a:ext cx="1600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0" y="2825496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63.24%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670048"/>
            <a:ext cx="173736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72600" y="2825496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0.8447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328416"/>
            <a:ext cx="23317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3483864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Tuned XGBoost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79" y="3328416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71799" y="34838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80.41%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80" y="3328416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0" y="34838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66.67%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328416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72200" y="34838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52.41%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3328416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0" y="34838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58.68%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3328416"/>
            <a:ext cx="17373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72600" y="3483864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0.8485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5262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1520" y="452628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2688" y="469087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What to report after execution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51480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Executed results: XGBoost achieved the highest test ROC-AUC (0.8485) and accuracy (80.41%). Random Forest achieved the highest recall for churn (78.88%).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2200" y="45262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72200" y="4526280"/>
            <a:ext cx="64008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73368" y="469087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Important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1480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Best overall test ROC-AUC: 0.8485 (Tuned XGBoost). For churn recall, Tuned Random Forest reached 78.88%.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9. Explainability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From prediction to 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Feature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10896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Tree-based models expose feature importance, helping identify variables that contribute strongly to predictions.</a:t>
            </a:r>
            <a:br/>
            <a:br/>
            <a:r>
              <a:t>This supports model review and business interpretation.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SHAP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47672"/>
            <a:ext cx="310896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SHAP is used to inspect how individual encoded features influence model predictions.</a:t>
            </a:r>
            <a:br/>
            <a:br/>
            <a:r>
              <a:t>This helps answer:</a:t>
            </a:r>
            <a:br/>
            <a:r>
              <a:t>“Why was this customer classified as high risk?”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Business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47672"/>
            <a:ext cx="310896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The project connects model output to retention actions such as contract incentives, support offers and proactive outreach.</a:t>
            </a:r>
            <a:br/>
            <a:br/>
            <a:r>
              <a:t>Prediction becomes a decision-support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10. Customer Risk &amp; Retention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Turning churn probability into an action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Low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Probability: &lt; 50%</a:t>
            </a:r>
            <a:br/>
            <a:br/>
            <a:r>
              <a:t>Continue normal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17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417320"/>
            <a:ext cx="64008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7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Medium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039112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Probability: 50–75%</a:t>
            </a:r>
            <a:br/>
            <a:br/>
            <a:r>
              <a:t>Add to proactive retention campaigns.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64008" cy="1965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High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039112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Probability: ≥ 75%</a:t>
            </a:r>
            <a:br/>
            <a:br/>
            <a:r>
              <a:t>Prioritize immediate retention outreach.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10927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79476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959352"/>
            <a:ext cx="105613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Example retention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416552"/>
            <a:ext cx="1056131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Month-to-month contract → offer longer-term plan • Low tenure → early loyalty incentive • No tech support → support trial • Electronic check → automatic-payment incentive • High monthly charges → personalized plan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11. Deployment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A reusable inference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Saved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30632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The complete preprocessing + model pipeline is serialized as:</a:t>
            </a:r>
            <a:br/>
            <a:br/>
            <a:r>
              <a:t>customer_churn_complete_pipeline.pkl</a:t>
            </a:r>
            <a:br/>
            <a:br/>
            <a:r>
              <a:t>This avoids having to rebuild preprocessing manually during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4297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30632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The project also stores:</a:t>
            </a:r>
            <a:br/>
            <a:br/>
            <a:r>
              <a:t>• Selected model</a:t>
            </a:r>
            <a:br/>
            <a:r>
              <a:t>• Feature names</a:t>
            </a:r>
            <a:br/>
            <a:r>
              <a:t>• Categorical features</a:t>
            </a:r>
            <a:br/>
            <a:r>
              <a:t>• Numerical features</a:t>
            </a:r>
            <a:br/>
            <a:r>
              <a:t>• Evaluation results</a:t>
            </a:r>
            <a:br/>
            <a:br/>
            <a:r>
              <a:t>This improves reproducibility.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64008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490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47672"/>
            <a:ext cx="30632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A new customer's information can be passed to the prediction function to obtain:</a:t>
            </a:r>
            <a:br/>
            <a:br/>
            <a:r>
              <a:t>• Churn prediction</a:t>
            </a:r>
            <a:br/>
            <a:r>
              <a:t>• Churn probability</a:t>
            </a:r>
            <a:br/>
            <a:r>
              <a:t>• Risk level</a:t>
            </a:r>
            <a:br/>
            <a:r>
              <a:t>• Retention recommendations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12. Conclusion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• End-to-end supervised ML workflow</a:t>
            </a:r>
            <a:br/>
            <a:r>
              <a:t>• Multiple model comparison</a:t>
            </a:r>
            <a:br/>
            <a:r>
              <a:t>• Hyperparameter optimization</a:t>
            </a:r>
            <a:br/>
            <a:r>
              <a:t>• Imbalance-aware evaluation</a:t>
            </a:r>
            <a:br/>
            <a:r>
              <a:t>• Explainable predictions</a:t>
            </a:r>
            <a:br/>
            <a:r>
              <a:t>• Business-oriented retention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4343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• Deploy Streamlit dashboard</a:t>
            </a:r>
            <a:br/>
            <a:r>
              <a:t>• Add probability-threshold optimization</a:t>
            </a:r>
            <a:br/>
            <a:r>
              <a:t>• Add monitoring for data drift</a:t>
            </a:r>
            <a:br/>
            <a:r>
              <a:t>• Track retention campaign outcomes</a:t>
            </a:r>
            <a:br/>
            <a:r>
              <a:t>• Integrate customer-level explanations</a:t>
            </a:r>
            <a:br/>
            <a:r>
              <a:t>• Consider cost-sensitive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64008" cy="434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Final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The executed project achieved 80.41% test accuracy and 0.8485 ROC-AUC with tuned XGBoost. Random Forest detected more actual churners (78.88% recall), showing the trade-off between overall discrimination and churn detection.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</a:defRPr>
            </a:pPr>
            <a:r>
              <a:t>Thank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1215</Words>
  <Application>Microsoft Office PowerPoint</Application>
  <PresentationFormat>Widescreen</PresentationFormat>
  <Paragraphs>169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MANJUSHREE</dc:creator>
  <cp:keywords/>
  <dc:description>generated using python-pptx</dc:description>
  <cp:lastModifiedBy>919920045585</cp:lastModifiedBy>
  <cp:revision>2</cp:revision>
  <dcterms:created xsi:type="dcterms:W3CDTF">2013-01-27T09:14:16Z</dcterms:created>
  <dcterms:modified xsi:type="dcterms:W3CDTF">2026-08-10T12:55:48Z</dcterms:modified>
  <cp:category/>
</cp:coreProperties>
</file>